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M Serif Display" charset="1" panose="00000000000000000000"/>
      <p:regular r:id="rId12"/>
    </p:embeddedFont>
    <p:embeddedFont>
      <p:font typeface="Poppins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724" y="7255306"/>
            <a:ext cx="3340193" cy="3256688"/>
          </a:xfrm>
          <a:custGeom>
            <a:avLst/>
            <a:gdLst/>
            <a:ahLst/>
            <a:cxnLst/>
            <a:rect r="r" b="b" t="t" l="l"/>
            <a:pathLst>
              <a:path h="3256688" w="3340193">
                <a:moveTo>
                  <a:pt x="0" y="0"/>
                </a:moveTo>
                <a:lnTo>
                  <a:pt x="3340192" y="0"/>
                </a:lnTo>
                <a:lnTo>
                  <a:pt x="3340192" y="3256688"/>
                </a:lnTo>
                <a:lnTo>
                  <a:pt x="0" y="325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148853" y="-996651"/>
            <a:ext cx="4765925" cy="4646777"/>
          </a:xfrm>
          <a:custGeom>
            <a:avLst/>
            <a:gdLst/>
            <a:ahLst/>
            <a:cxnLst/>
            <a:rect r="r" b="b" t="t" l="l"/>
            <a:pathLst>
              <a:path h="4646777" w="4765925">
                <a:moveTo>
                  <a:pt x="4765924" y="0"/>
                </a:moveTo>
                <a:lnTo>
                  <a:pt x="0" y="0"/>
                </a:lnTo>
                <a:lnTo>
                  <a:pt x="0" y="4646776"/>
                </a:lnTo>
                <a:lnTo>
                  <a:pt x="4765924" y="4646776"/>
                </a:lnTo>
                <a:lnTo>
                  <a:pt x="4765924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58328" y="5470813"/>
            <a:ext cx="3477187" cy="4609698"/>
            <a:chOff x="0" y="0"/>
            <a:chExt cx="4789932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4" y="-2"/>
              <a:ext cx="4789940" cy="6350002"/>
            </a:xfrm>
            <a:custGeom>
              <a:avLst/>
              <a:gdLst/>
              <a:ahLst/>
              <a:cxnLst/>
              <a:rect r="r" b="b" t="t" l="l"/>
              <a:pathLst>
                <a:path h="6350002" w="4789940">
                  <a:moveTo>
                    <a:pt x="2323583" y="6298453"/>
                  </a:moveTo>
                  <a:cubicBezTo>
                    <a:pt x="1395061" y="6571833"/>
                    <a:pt x="651679" y="5701388"/>
                    <a:pt x="315358" y="4925773"/>
                  </a:cubicBezTo>
                  <a:cubicBezTo>
                    <a:pt x="-20100" y="4152165"/>
                    <a:pt x="-70367" y="3265058"/>
                    <a:pt x="81919" y="2442034"/>
                  </a:cubicBezTo>
                  <a:cubicBezTo>
                    <a:pt x="263796" y="1459054"/>
                    <a:pt x="1012740" y="-309776"/>
                    <a:pt x="2285534" y="46738"/>
                  </a:cubicBezTo>
                  <a:cubicBezTo>
                    <a:pt x="2517550" y="569876"/>
                    <a:pt x="2630606" y="1097041"/>
                    <a:pt x="2622224" y="1620547"/>
                  </a:cubicBezTo>
                  <a:cubicBezTo>
                    <a:pt x="2613651" y="2154227"/>
                    <a:pt x="2481279" y="2527086"/>
                    <a:pt x="2341109" y="2921815"/>
                  </a:cubicBezTo>
                  <a:cubicBezTo>
                    <a:pt x="2221221" y="3259470"/>
                    <a:pt x="2097244" y="3608618"/>
                    <a:pt x="2038786" y="4081592"/>
                  </a:cubicBezTo>
                  <a:cubicBezTo>
                    <a:pt x="1951524" y="4787419"/>
                    <a:pt x="2047409" y="5530763"/>
                    <a:pt x="2323583" y="6298453"/>
                  </a:cubicBezTo>
                  <a:close/>
                  <a:moveTo>
                    <a:pt x="4708021" y="2442034"/>
                  </a:moveTo>
                  <a:cubicBezTo>
                    <a:pt x="4525509" y="1455651"/>
                    <a:pt x="3771980" y="-321905"/>
                    <a:pt x="2491160" y="50624"/>
                  </a:cubicBezTo>
                  <a:cubicBezTo>
                    <a:pt x="2710946" y="572531"/>
                    <a:pt x="2817715" y="1099161"/>
                    <a:pt x="2809307" y="1623544"/>
                  </a:cubicBezTo>
                  <a:cubicBezTo>
                    <a:pt x="2800278" y="2187920"/>
                    <a:pt x="2662902" y="2574813"/>
                    <a:pt x="2517449" y="2984451"/>
                  </a:cubicBezTo>
                  <a:cubicBezTo>
                    <a:pt x="2400926" y="3312606"/>
                    <a:pt x="2280441" y="3651938"/>
                    <a:pt x="2224498" y="4104553"/>
                  </a:cubicBezTo>
                  <a:cubicBezTo>
                    <a:pt x="2137871" y="4805314"/>
                    <a:pt x="2240411" y="5546955"/>
                    <a:pt x="2529171" y="6315483"/>
                  </a:cubicBezTo>
                  <a:cubicBezTo>
                    <a:pt x="3428356" y="6532654"/>
                    <a:pt x="4145868" y="5683823"/>
                    <a:pt x="4474570" y="4925773"/>
                  </a:cubicBezTo>
                  <a:cubicBezTo>
                    <a:pt x="4810040" y="4152165"/>
                    <a:pt x="4860307" y="3265058"/>
                    <a:pt x="4708021" y="2442034"/>
                  </a:cubicBezTo>
                  <a:close/>
                </a:path>
              </a:pathLst>
            </a:custGeom>
            <a:blipFill>
              <a:blip r:embed="rId4"/>
              <a:stretch>
                <a:fillRect l="0" t="-34281" r="0" b="-3428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828251">
            <a:off x="12674826" y="2935336"/>
            <a:ext cx="4989074" cy="5835175"/>
          </a:xfrm>
          <a:custGeom>
            <a:avLst/>
            <a:gdLst/>
            <a:ahLst/>
            <a:cxnLst/>
            <a:rect r="r" b="b" t="t" l="l"/>
            <a:pathLst>
              <a:path h="5835175" w="4989074">
                <a:moveTo>
                  <a:pt x="0" y="0"/>
                </a:moveTo>
                <a:lnTo>
                  <a:pt x="4989074" y="0"/>
                </a:lnTo>
                <a:lnTo>
                  <a:pt x="4989074" y="5835175"/>
                </a:lnTo>
                <a:lnTo>
                  <a:pt x="0" y="58351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62631">
            <a:off x="13777452" y="3458492"/>
            <a:ext cx="2783230" cy="4788864"/>
          </a:xfrm>
          <a:custGeom>
            <a:avLst/>
            <a:gdLst/>
            <a:ahLst/>
            <a:cxnLst/>
            <a:rect r="r" b="b" t="t" l="l"/>
            <a:pathLst>
              <a:path h="4788864" w="2783230">
                <a:moveTo>
                  <a:pt x="0" y="0"/>
                </a:moveTo>
                <a:lnTo>
                  <a:pt x="2783231" y="0"/>
                </a:lnTo>
                <a:lnTo>
                  <a:pt x="2783231" y="4788863"/>
                </a:lnTo>
                <a:lnTo>
                  <a:pt x="0" y="47888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2225" r="0" b="-764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80564" y="4218272"/>
            <a:ext cx="7243226" cy="3657829"/>
          </a:xfrm>
          <a:custGeom>
            <a:avLst/>
            <a:gdLst/>
            <a:ahLst/>
            <a:cxnLst/>
            <a:rect r="r" b="b" t="t" l="l"/>
            <a:pathLst>
              <a:path h="3657829" w="7243226">
                <a:moveTo>
                  <a:pt x="0" y="0"/>
                </a:moveTo>
                <a:lnTo>
                  <a:pt x="7243226" y="0"/>
                </a:lnTo>
                <a:lnTo>
                  <a:pt x="7243226" y="3657830"/>
                </a:lnTo>
                <a:lnTo>
                  <a:pt x="0" y="3657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25468" y="330166"/>
            <a:ext cx="10566083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WHERE mCAFFEINE MEETS THE CONSUMER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2394" y="1743161"/>
            <a:ext cx="2693075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27250" y="1694147"/>
            <a:ext cx="2110502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LINKEDIN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97682" y="2357722"/>
            <a:ext cx="5259136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5E8D0"/>
                </a:solidFill>
                <a:latin typeface="Poppins Bold"/>
                <a:ea typeface="Poppins Bold"/>
                <a:cs typeface="Poppins Bold"/>
                <a:sym typeface="Poppins Bold"/>
              </a:rPr>
              <a:t>Credibility + Employer Brand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5E8D0"/>
                </a:solidFill>
                <a:latin typeface="Poppins Bold"/>
                <a:ea typeface="Poppins Bold"/>
                <a:cs typeface="Poppins Bold"/>
                <a:sym typeface="Poppins Bold"/>
              </a:rPr>
              <a:t>280K+ followers*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5E8D0"/>
                </a:solidFill>
                <a:latin typeface="Poppins Bold"/>
                <a:ea typeface="Poppins Bold"/>
                <a:cs typeface="Poppins Bold"/>
                <a:sym typeface="Poppins Bold"/>
              </a:rPr>
              <a:t> Company • People • Culture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5E8D0"/>
                </a:solidFill>
                <a:latin typeface="Poppins Bold"/>
                <a:ea typeface="Poppins Bold"/>
                <a:cs typeface="Poppins Bold"/>
                <a:sym typeface="Poppins Bold"/>
              </a:rPr>
              <a:t>Corporate &amp; talent touchpoint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337" y="2567075"/>
            <a:ext cx="4251169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5E8D0"/>
                </a:solidFill>
                <a:latin typeface="Poppins Bold"/>
                <a:ea typeface="Poppins Bold"/>
                <a:cs typeface="Poppins Bold"/>
                <a:sym typeface="Poppins Bold"/>
              </a:rPr>
              <a:t>Discovery + Engagement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5E8D0"/>
                </a:solidFill>
                <a:latin typeface="Poppins Bold"/>
                <a:ea typeface="Poppins Bold"/>
                <a:cs typeface="Poppins Bold"/>
                <a:sym typeface="Poppins Bold"/>
              </a:rPr>
              <a:t>Reels • Creators • Products • Community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5E8D0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consumer-social touchpoint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22387" y="5076825"/>
            <a:ext cx="5952442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73C36"/>
                </a:solidFill>
                <a:latin typeface="Poppins Bold"/>
                <a:ea typeface="Poppins Bold"/>
                <a:cs typeface="Poppins Bold"/>
                <a:sym typeface="Poppins Bold"/>
              </a:rPr>
              <a:t>mCaffeine has the touchpoints.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73C36"/>
                </a:solidFill>
                <a:latin typeface="Poppins Bold"/>
                <a:ea typeface="Poppins Bold"/>
                <a:cs typeface="Poppins Bold"/>
                <a:sym typeface="Poppins Bold"/>
              </a:rPr>
              <a:t> The opportunity is to connect the journey.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22387" y="6495861"/>
            <a:ext cx="61595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73C36"/>
                </a:solidFill>
                <a:latin typeface="Poppins Bold"/>
                <a:ea typeface="Poppins Bold"/>
                <a:cs typeface="Poppins Bold"/>
                <a:sym typeface="Poppins Bold"/>
              </a:rPr>
              <a:t>DISCOVER → ENGAGE → BUY → RETURN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24584" y="8269157"/>
            <a:ext cx="10366967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C9A46C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Turn social attention into  repeatable purchase occasions.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ircl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1793" y="1393353"/>
            <a:ext cx="6740952" cy="4114800"/>
          </a:xfrm>
          <a:custGeom>
            <a:avLst/>
            <a:gdLst/>
            <a:ahLst/>
            <a:cxnLst/>
            <a:rect r="r" b="b" t="t" l="l"/>
            <a:pathLst>
              <a:path h="4114800" w="6740952">
                <a:moveTo>
                  <a:pt x="0" y="0"/>
                </a:moveTo>
                <a:lnTo>
                  <a:pt x="6740952" y="0"/>
                </a:lnTo>
                <a:lnTo>
                  <a:pt x="67409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566" r="0" b="-856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07" y="1972428"/>
            <a:ext cx="2664577" cy="454053"/>
          </a:xfrm>
          <a:custGeom>
            <a:avLst/>
            <a:gdLst/>
            <a:ahLst/>
            <a:cxnLst/>
            <a:rect r="r" b="b" t="t" l="l"/>
            <a:pathLst>
              <a:path h="454053" w="2664577">
                <a:moveTo>
                  <a:pt x="0" y="0"/>
                </a:moveTo>
                <a:lnTo>
                  <a:pt x="2664576" y="0"/>
                </a:lnTo>
                <a:lnTo>
                  <a:pt x="2664576" y="454053"/>
                </a:lnTo>
                <a:lnTo>
                  <a:pt x="0" y="45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5201" y="2721447"/>
            <a:ext cx="3177068" cy="729305"/>
          </a:xfrm>
          <a:custGeom>
            <a:avLst/>
            <a:gdLst/>
            <a:ahLst/>
            <a:cxnLst/>
            <a:rect r="r" b="b" t="t" l="l"/>
            <a:pathLst>
              <a:path h="729305" w="3177068">
                <a:moveTo>
                  <a:pt x="0" y="0"/>
                </a:moveTo>
                <a:lnTo>
                  <a:pt x="3177068" y="0"/>
                </a:lnTo>
                <a:lnTo>
                  <a:pt x="3177068" y="729306"/>
                </a:lnTo>
                <a:lnTo>
                  <a:pt x="0" y="729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221" t="-96124" r="-8562" b="-860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201" y="3450753"/>
            <a:ext cx="2877483" cy="846318"/>
          </a:xfrm>
          <a:custGeom>
            <a:avLst/>
            <a:gdLst/>
            <a:ahLst/>
            <a:cxnLst/>
            <a:rect r="r" b="b" t="t" l="l"/>
            <a:pathLst>
              <a:path h="846318" w="2877483">
                <a:moveTo>
                  <a:pt x="0" y="0"/>
                </a:moveTo>
                <a:lnTo>
                  <a:pt x="2877482" y="0"/>
                </a:lnTo>
                <a:lnTo>
                  <a:pt x="2877482" y="846318"/>
                </a:lnTo>
                <a:lnTo>
                  <a:pt x="0" y="846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5201" y="4297071"/>
            <a:ext cx="1879238" cy="904038"/>
          </a:xfrm>
          <a:custGeom>
            <a:avLst/>
            <a:gdLst/>
            <a:ahLst/>
            <a:cxnLst/>
            <a:rect r="r" b="b" t="t" l="l"/>
            <a:pathLst>
              <a:path h="904038" w="1879238">
                <a:moveTo>
                  <a:pt x="0" y="0"/>
                </a:moveTo>
                <a:lnTo>
                  <a:pt x="1879238" y="0"/>
                </a:lnTo>
                <a:lnTo>
                  <a:pt x="1879238" y="904038"/>
                </a:lnTo>
                <a:lnTo>
                  <a:pt x="0" y="904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6755" r="0" b="-5111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20275" y="5508153"/>
            <a:ext cx="6504311" cy="3475311"/>
          </a:xfrm>
          <a:custGeom>
            <a:avLst/>
            <a:gdLst/>
            <a:ahLst/>
            <a:cxnLst/>
            <a:rect r="r" b="b" t="t" l="l"/>
            <a:pathLst>
              <a:path h="3475311" w="6504311">
                <a:moveTo>
                  <a:pt x="0" y="0"/>
                </a:moveTo>
                <a:lnTo>
                  <a:pt x="6504312" y="0"/>
                </a:lnTo>
                <a:lnTo>
                  <a:pt x="6504312" y="3475311"/>
                </a:lnTo>
                <a:lnTo>
                  <a:pt x="0" y="34753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948" t="-79117" r="-13497" b="-5614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6652583" y="7131891"/>
            <a:ext cx="6716860" cy="4700930"/>
          </a:xfrm>
          <a:custGeom>
            <a:avLst/>
            <a:gdLst/>
            <a:ahLst/>
            <a:cxnLst/>
            <a:rect r="r" b="b" t="t" l="l"/>
            <a:pathLst>
              <a:path h="4700930" w="6716860">
                <a:moveTo>
                  <a:pt x="0" y="0"/>
                </a:moveTo>
                <a:lnTo>
                  <a:pt x="6716860" y="0"/>
                </a:lnTo>
                <a:lnTo>
                  <a:pt x="6716860" y="4700930"/>
                </a:lnTo>
                <a:lnTo>
                  <a:pt x="0" y="47009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2722" r="0" b="-2016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35098" y="1913474"/>
            <a:ext cx="4641365" cy="2261758"/>
          </a:xfrm>
          <a:custGeom>
            <a:avLst/>
            <a:gdLst/>
            <a:ahLst/>
            <a:cxnLst/>
            <a:rect r="r" b="b" t="t" l="l"/>
            <a:pathLst>
              <a:path h="2261758" w="4641365">
                <a:moveTo>
                  <a:pt x="0" y="0"/>
                </a:moveTo>
                <a:lnTo>
                  <a:pt x="4641365" y="0"/>
                </a:lnTo>
                <a:lnTo>
                  <a:pt x="4641365" y="2261757"/>
                </a:lnTo>
                <a:lnTo>
                  <a:pt x="0" y="22617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3980" r="0" b="-9541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44340" y="409103"/>
            <a:ext cx="9799320" cy="59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7E8CF"/>
                </a:solidFill>
                <a:latin typeface="Poppins Bold"/>
                <a:ea typeface="Poppins Bold"/>
                <a:cs typeface="Poppins Bold"/>
                <a:sym typeface="Poppins Bold"/>
              </a:rPr>
              <a:t>THE COMPETITION OWNS DIFFERENT MINDSETS.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08766" y="1945454"/>
            <a:ext cx="233140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SCIENCE-LED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44340" y="3645947"/>
            <a:ext cx="3618661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→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95805" y="4321634"/>
            <a:ext cx="3836081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SCIENCE + VEGAN BEAUTY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19073" y="6001624"/>
            <a:ext cx="6106716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Dot &amp; Key       ███████████  55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Minimalist      ██████████   53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Derma Co    █████████    45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Plum            █████        26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WishCare        █████        25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mCaffeine       ███          17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22365" y="2571278"/>
            <a:ext cx="3262610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LIFESTYLE + EXPERIENCE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67900" y="5441478"/>
            <a:ext cx="417576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SEARCH INTEREST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0861" y="1979072"/>
            <a:ext cx="3243139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9E96"/>
                </a:solidFill>
                <a:latin typeface="Poppins Bold"/>
                <a:ea typeface="Poppins Bold"/>
                <a:cs typeface="Poppins Bold"/>
                <a:sym typeface="Poppins Bold"/>
              </a:rPr>
              <a:t>mCAFFEINE CAN OWN THE RESET RITUAL.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67900" y="3230022"/>
            <a:ext cx="3856910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73C36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</a:t>
            </a:r>
            <a:r>
              <a:rPr lang="en-US" b="true" sz="2499">
                <a:solidFill>
                  <a:srgbClr val="FFFFCC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  <a:r>
              <a:rPr lang="en-US" b="true" sz="2499">
                <a:solidFill>
                  <a:srgbClr val="9DCD5A"/>
                </a:solidFill>
                <a:latin typeface="Poppins Bold"/>
                <a:ea typeface="Poppins Bold"/>
                <a:cs typeface="Poppins Bold"/>
                <a:sym typeface="Poppins Bold"/>
              </a:rPr>
              <a:t>ROUTINE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  <a:r>
              <a:rPr lang="en-US" b="true" sz="2499">
                <a:solidFill>
                  <a:srgbClr val="7A6200"/>
                </a:solidFill>
                <a:latin typeface="Poppins Bold"/>
                <a:ea typeface="Poppins Bold"/>
                <a:cs typeface="Poppins Bold"/>
                <a:sym typeface="Poppins Bold"/>
              </a:rPr>
              <a:t>RITUAL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31885" y="9415681"/>
            <a:ext cx="10625343" cy="44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b="true" sz="2494">
                <a:solidFill>
                  <a:srgbClr val="C49B52"/>
                </a:solidFill>
                <a:latin typeface="Poppins Bold"/>
                <a:ea typeface="Poppins Bold"/>
                <a:cs typeface="Poppins Bold"/>
                <a:sym typeface="Poppins Bold"/>
              </a:rPr>
              <a:t>From coffee-powered products → to a repeatable self-care ritual.</a:t>
            </a:r>
          </a:p>
        </p:txBody>
      </p:sp>
    </p:spTree>
  </p:cSld>
  <p:clrMapOvr>
    <a:masterClrMapping/>
  </p:clrMapOvr>
  <p:transition spd="slow">
    <p:cover dir="r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08058" cy="11093267"/>
          </a:xfrm>
          <a:custGeom>
            <a:avLst/>
            <a:gdLst/>
            <a:ahLst/>
            <a:cxnLst/>
            <a:rect r="r" b="b" t="t" l="l"/>
            <a:pathLst>
              <a:path h="11093267" w="18508058">
                <a:moveTo>
                  <a:pt x="0" y="0"/>
                </a:moveTo>
                <a:lnTo>
                  <a:pt x="18508058" y="0"/>
                </a:lnTo>
                <a:lnTo>
                  <a:pt x="18508058" y="11093267"/>
                </a:lnTo>
                <a:lnTo>
                  <a:pt x="0" y="11093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75918"/>
          </a:xfrm>
          <a:custGeom>
            <a:avLst/>
            <a:gdLst/>
            <a:ahLst/>
            <a:cxnLst/>
            <a:rect r="r" b="b" t="t" l="l"/>
            <a:pathLst>
              <a:path h="10375918" w="18288000">
                <a:moveTo>
                  <a:pt x="0" y="0"/>
                </a:moveTo>
                <a:lnTo>
                  <a:pt x="18288000" y="0"/>
                </a:lnTo>
                <a:lnTo>
                  <a:pt x="18288000" y="10375918"/>
                </a:lnTo>
                <a:lnTo>
                  <a:pt x="0" y="10375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51" r="0" b="-875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1092" y="2684548"/>
            <a:ext cx="2940804" cy="1720371"/>
          </a:xfrm>
          <a:custGeom>
            <a:avLst/>
            <a:gdLst/>
            <a:ahLst/>
            <a:cxnLst/>
            <a:rect r="r" b="b" t="t" l="l"/>
            <a:pathLst>
              <a:path h="1720371" w="2940804">
                <a:moveTo>
                  <a:pt x="0" y="0"/>
                </a:moveTo>
                <a:lnTo>
                  <a:pt x="2940804" y="0"/>
                </a:lnTo>
                <a:lnTo>
                  <a:pt x="2940804" y="1720371"/>
                </a:lnTo>
                <a:lnTo>
                  <a:pt x="0" y="1720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18140" y="2659672"/>
            <a:ext cx="3025850" cy="1770122"/>
          </a:xfrm>
          <a:custGeom>
            <a:avLst/>
            <a:gdLst/>
            <a:ahLst/>
            <a:cxnLst/>
            <a:rect r="r" b="b" t="t" l="l"/>
            <a:pathLst>
              <a:path h="1770122" w="3025850">
                <a:moveTo>
                  <a:pt x="0" y="0"/>
                </a:moveTo>
                <a:lnTo>
                  <a:pt x="3025850" y="0"/>
                </a:lnTo>
                <a:lnTo>
                  <a:pt x="3025850" y="1770122"/>
                </a:lnTo>
                <a:lnTo>
                  <a:pt x="0" y="1770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63090" y="2718679"/>
            <a:ext cx="2924983" cy="1711115"/>
          </a:xfrm>
          <a:custGeom>
            <a:avLst/>
            <a:gdLst/>
            <a:ahLst/>
            <a:cxnLst/>
            <a:rect r="r" b="b" t="t" l="l"/>
            <a:pathLst>
              <a:path h="1711115" w="2924983">
                <a:moveTo>
                  <a:pt x="0" y="0"/>
                </a:moveTo>
                <a:lnTo>
                  <a:pt x="2924983" y="0"/>
                </a:lnTo>
                <a:lnTo>
                  <a:pt x="2924983" y="1711115"/>
                </a:lnTo>
                <a:lnTo>
                  <a:pt x="0" y="1711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83373" y="2684548"/>
            <a:ext cx="2813795" cy="1646070"/>
          </a:xfrm>
          <a:custGeom>
            <a:avLst/>
            <a:gdLst/>
            <a:ahLst/>
            <a:cxnLst/>
            <a:rect r="r" b="b" t="t" l="l"/>
            <a:pathLst>
              <a:path h="1646070" w="2813795">
                <a:moveTo>
                  <a:pt x="0" y="0"/>
                </a:moveTo>
                <a:lnTo>
                  <a:pt x="2813795" y="0"/>
                </a:lnTo>
                <a:lnTo>
                  <a:pt x="2813795" y="1646070"/>
                </a:lnTo>
                <a:lnTo>
                  <a:pt x="0" y="1646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17824" y="395915"/>
            <a:ext cx="8303895" cy="59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5E5CC"/>
                </a:solidFill>
                <a:latin typeface="Poppins Bold"/>
                <a:ea typeface="Poppins Bold"/>
                <a:cs typeface="Poppins Bold"/>
                <a:sym typeface="Poppins Bold"/>
              </a:rPr>
              <a:t>FROM ATTENTION TO </a:t>
            </a:r>
            <a:r>
              <a:rPr lang="en-US" b="true" sz="3299">
                <a:solidFill>
                  <a:srgbClr val="C49B52"/>
                </a:solidFill>
                <a:latin typeface="Poppins Bold"/>
                <a:ea typeface="Poppins Bold"/>
                <a:cs typeface="Poppins Bold"/>
                <a:sym typeface="Poppins Bold"/>
              </a:rPr>
              <a:t>REPEAT PURCHASE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2572" y="3317197"/>
            <a:ext cx="1644642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Qualified discovery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34991" y="2808422"/>
            <a:ext cx="231011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ENGAGEMENT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657" y="2822392"/>
            <a:ext cx="138247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2890" y="3382946"/>
            <a:ext cx="2134317" cy="6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3"/>
              </a:lnSpc>
              <a:spcBef>
                <a:spcPct val="0"/>
              </a:spcBef>
            </a:pPr>
            <a:r>
              <a:rPr lang="en-US" b="true" sz="183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Saves • Shares • Comments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0777" y="2831917"/>
            <a:ext cx="194845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63090" y="3310847"/>
            <a:ext cx="248757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Clicks • Cart • Orders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21900" y="2808422"/>
            <a:ext cx="153674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RETENTION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12849" y="3212131"/>
            <a:ext cx="231136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Repeat • UGC • CRM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51810" y="5573285"/>
            <a:ext cx="7326392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CC"/>
                </a:solidFill>
                <a:latin typeface="Poppins Bold"/>
                <a:ea typeface="Poppins Bold"/>
                <a:cs typeface="Poppins Bold"/>
                <a:sym typeface="Poppins Bold"/>
              </a:rPr>
              <a:t>THE GOAL ISN'T ONE VIRAL POST.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3492" y="6796296"/>
            <a:ext cx="7204710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AFA9"/>
                </a:solidFill>
                <a:latin typeface="Poppins Bold"/>
                <a:ea typeface="Poppins Bold"/>
                <a:cs typeface="Poppins Bold"/>
                <a:sym typeface="Poppins Bold"/>
              </a:rPr>
              <a:t>IT'S A REPEATABLE PURCHASE LOOP.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73492" y="8320969"/>
            <a:ext cx="7662001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D8C7AD"/>
                </a:solidFill>
                <a:latin typeface="Poppins Bold"/>
                <a:ea typeface="Poppins Bold"/>
                <a:cs typeface="Poppins Bold"/>
                <a:sym typeface="Poppins Bold"/>
              </a:rPr>
              <a:t>Track weekly: 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D8C7AD"/>
                </a:solidFill>
                <a:latin typeface="Poppins Bold"/>
                <a:ea typeface="Poppins Bold"/>
                <a:cs typeface="Poppins Bold"/>
                <a:sym typeface="Poppins Bold"/>
              </a:rPr>
              <a:t>Reach → Engagement → Conversion → Repeat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98552" y="2976697"/>
            <a:ext cx="43588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🗨️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67852" y="2929706"/>
            <a:ext cx="43588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3777571"/>
            <a:ext cx="39528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🛍️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88373" y="3637871"/>
            <a:ext cx="39528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🔄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20" t="-1936" r="0" b="-883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DAHSStToxUQ</dc:identifier>
  <dcterms:modified xsi:type="dcterms:W3CDTF">2011-08-01T06:04:30Z</dcterms:modified>
  <cp:revision>1</cp:revision>
  <dc:title>mCaffeine already owns the shower. Can it own the reason to reset?</dc:title>
</cp:coreProperties>
</file>